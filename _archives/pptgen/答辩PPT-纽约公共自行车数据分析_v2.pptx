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用户类型分布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bubble3D val="0"/>
            <c:spPr>
              <a:solidFill>
                <a:srgbClr val="BFC9D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会员 Subscriber</c:v>
                </c:pt>
                <c:pt idx="1">
                  <c:v>游客 Customer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79.5</c:v>
                </c:pt>
                <c:pt idx="1">
                  <c:v>20.5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32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车型分布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C6D8C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电动 bike</c:v>
                </c:pt>
                <c:pt idx="1">
                  <c:v>经典 classic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73.4</c:v>
                </c:pt>
                <c:pt idx="1">
                  <c:v>26.6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32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 · 站定环视评委】
各位老师好！我们小组的答辩题目是《纽约公共自行车数据分析》。
本项目基于纽约 Citi Bike 官方公开数据，完成了从数据获取、清洗、统计分析、可视化到机器学习挖掘的完整闭环。
我是周晨琳，接下来由我代表小组进行汇报。
【翻页】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本次汇报共分五个部分：首先是团队分工与项目背景，然后是数据说明与系统设计，
第三部分是统计分析与可视化成果，第四部分是机器学习挖掘，包括站点聚类和双任务预测，
最后是 AI 辅助过程、创新点与总结展望。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40 秒】
我们小组共五名成员。我负责整体架构设计、列名规范与全流程整合；张子千负责数据预处理，包括字段归一、异常过滤和特征工程；陈嘉欣负责统计分析；童悦家负责机器学习部分，包括 KMeans 聚类和两个预测任务；陈静萤负责可视化图表。
这里我想强调一点：我们的开发模式是"统一契约、并行开发"。先制定好 config 里的列名规范和接口契约，五个人的模块只依赖统一的标准表，最终实现了零冲突整合，每个人的工作量均分 20%。
【被问要点】你们是怎么保证并行开发不冲突的？→ 统一标准表 + 接口契约，各模块读写同一列名规范，最终由 main.py 串联。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
Citi Bike 是纽约市最大的公共自行车系统，日均骑行超过十万次。海量骑行数据里蕴含着城市出行规律和用户行为特征，通过分析可以辅助车辆调度、提升运营效率，这也正是课程要求的"数据清洗、统计分析、可视化、数据挖掘"四个环节。
系统按五个模块划分：数据获取、预处理、统计分析、可视化、机器学习，对应五个脚本文件。开发环境是 Python 3.10，使用 pandas、scikit-learn、matplotlib 和 folium，开发工具是 PyCharm 和 TRAE 编码智能体。
【被问要点】Python 版本是多少？→ Python 3.10（与代码环境一致）。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40 秒】
先看数据规模。我们使用的是 2026 年 7 月的官方数据，大月份分成了 5 个 CSV 分片，压缩包约 929 兆。合并后原始记录 499 万条，清洗后有效 497.5 万条，异常剔除率只有 0.36%。考虑到计算成本，我们按固定随机种子抽样了 20 万条作为分析样本。
预处理流水线共六步：字段归一、时间解析、时长补算、异常过滤、随机抽样、特征派生。其中异常过滤采用官方口径——只剔除时长小于 60 秒的行程。
这里有一个技术亮点：929 兆的大文件我们采用分块读取的方式，内存占用稳定，普通笔记本就能跑完，这一点在创新点部分还会提到。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
系统架构分四层：输入层是官方公开数据；数据获取脚本负责下载；预处理脚本生成统一的 16 列标准表，这张表是整个系统的"接口契约"；下游三个模块——统计分析、可视化、机器学习——并行读取这张表；最终汇总到输出层，包括统计报表、统计图表和聚类与预测模型结果。
整个流程可以通过 python main.py 一键运行，各模块也可以独立执行。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
统计结果很有代表性：平均骑行时长 13.2 分钟，中位数 9.5 分钟——说明大部分骑行是短途；用户结构上会员占 79.5%，车型上电动自行车占 73.4%。
从两张环图可以直观看到：这是一个以"最后一公里"通勤出行为主的系统，已经形成了稳定的会员基本盘，而且电动化趋势非常明显。
【被问要点】为什么中位数 9.5 小于均值 13.2？→ 时长呈右偏分布，少数超长骑行（如休闲骑行）把均值拉高了，中位数更能代表典型骑行时长。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40 秒】
时空规律这张图非常直观：时段分布呈明显的"早晚双峰"——早高峰 8 时，晚高峰 17 到 19 时，峰值出现在 18 时，单小时 17403 次；星期分布显示工作日骑行量是周末的 3.1 倍，周三最高。
热门站点方面，借车量第一的是 Pier 61 at Chelsea Piers，占 0.38%，TOP5 站点都集中在曼哈顿中城。
结论很清晰：Citi Bike 有显著的通勤特征——早晚高峰潮汐、工作日主导、核心区集中，这为车辆调度优化提供了直接依据。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 · 可略讲】
可视化部分我们产出了五类图表：时段与星期分布柱状图、用户与车型占比饼图、TOP10 热门站点柱状图、站点空间分布散点图，以及基于 folium 的交互式地图。交互地图是 HTML 形式，支持缩放和站点信息查看，大家可以会后体验。
所有图表保存到 output/figures/ 目录，中文统一使用 SimHei 字体。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【重点页 · 约 60 秒】
机器学习部分，第一个任务是站点聚类。我们对 1985 个有效站点、10 维特征做 Z-score 标准化后使用 KMeans 聚类，特征涵盖流量、时长、会员占比、高峰特征、周末占比、站点平衡度和经纬度。通过四项指标综合确定 K=4：SSE 13754.9、轮廓系数 0.1630、CH 指数 292.61、DB 指数 1.8809。
从空间分布图可以看到，聚类结果与城市地理高度吻合。四类站点分别是：高流量通勤型 694 站，日均 374.6 次、会员占比 81.1%；中流量通勤型 443 站；低流量通勤型 571 站；还有一类低流量休闲型 277 站，它的特点是平均时长最长——17.8 分钟，会员占比最低——65.3%，明显是景区休闲骑行的特征。
这个结果的业务价值在于：不同类型站点要差异化运营，比如休闲站适合做周末营销，通勤站要重点保障高峰时段的车辆供给。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 · 可略讲】
这一页展示 K 值是如何确定的。左上是肘部法则，K 从 2 到 10 的 SSE 曲线，下降趋缓的拐点落在 4；再结合轮廓系数、CH 指数和 DB 指数的交叉验证，综合确定 K=4，而不是拍脑袋选的。
右上雷达图直观呈现四类站点画像差异：休闲型站点时长最长、周末占比最高达 33.6%，而三类通勤型站点会员占比普遍超过 79%。两类站点运营策略应该显著区分。
【被问要点】为什么选 K=4？→ 肘部拐点 + 轮廓/CH/DB 三指标交叉验证。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【重点页 · 约 60 秒】
第二个任务是双任务预测，每个任务都用五个模型对比，并加了均值基线作为参照。
左侧是骑行时长预测，17 维特征，包含骑行距离。随机森林最优：R² 0.2031，MAE 4.80 分钟，相比均值基线的 8.31 分钟有明显提升。
右侧是站点客流预测，13 维特征，包含滞后客流特征。梯度提升最优：R² 0.9465，MAE 29.37 次每小时，比均值基线的 155 次提高了 81% 的精度。
两个任务一个"难"一个"易"：时长预测受个人骑行习惯影响大，R² 偏低是正常的；客流预测因为利用了时序滞后特征，效果非常好，可以直接支撑车辆投放调度。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40 秒】
这一页是预测效果的细看。左上是时长预测的真实值—预测值散点与残差分布，右上是客流预测在测试集上的时序对比，可以看到预测曲线与真实曲线贴合度很高。
关键结论看最右侧：客流预测中，滞后一小时的客流特征贡献了 79.5%，说明站点客流有很强的自相关性，这也是预测准的原因；时长预测中，骑行距离是第一特征，贡献 61.8%，距离越远耗时越长，符合直觉。
相对均值基线，客流 MAE 降低了 81.1%，时长 MAE 降低了 42.2%。我们还做了误差归因：客流误差主要集中在高流量时段，时长误差集中在超过 60 分钟的长时骑行上。
【被问要点】为什么客流预测 R² 这么高？→ lag_1h 滞后客流携带强自相关信息（贡献 79.5%）；为什么时长预测 R² 低？→ 时长受个人习惯、路况、信号灯等随机因素影响大，属正常现象，且相对基线仍有 42% 提升。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
本课程要求体现 AI 辅助开发。我们使用字节的 TRAE Coding Agent，AI 承担了接口规范初稿起草、模块代码生成和调试排错；但架构设计、规范制定和结果校验都由人工主导。
具体来说，AI 生成了 config 列名规范与接口文档初稿、四个模块的初始代码框架、报告初稿结构和图表模板。之后我们做了四轮关键迭代：把一次性 read_csv 改成 50 万分块读取解决内存问题；解决 Windows 控制台 GBK 乱码；统一了模块间参数类型不一致；把写死的路径统一收敛到 config 常量。
一句话总结：AI 生成框架，人工主导验证与优化。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
创新点归纳为四条：第一，智能数据获取策略，本机 zip 优先、三个候选 URL 兜底，自动合并大月份多分片，避免重复下载 900 多兆数据；第二，内存友好的清洗流水线，分块读取让普通笔记本也能跑大数据；第三，统一契约并行开发，体现软件工程最佳实践；第四，聚类加多模型对比预测，客流预测 R² 达到 0.9465，时长预测也明确了距离为核心特征。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 30 秒】
最后总结一下：我们打通了"数据获取—清洗—统计—可视化—挖掘"的完整闭环，在 499 万行真实数据上验证了统一架构约定的有效性，产出了统计图表、站点聚类和双任务多模型对比预测。其中客流预测可以直接辅助车辆投放调度，时长预测也找出了核心影响因素。
未来改进方向有四个：引入天气、节假日等特征进一步提升时长预测精度；把聚类扩展为 ST-GCN 等时空图模型，刻画站点间依赖；接入 folium 交互大屏与调度仿真；以及接入实时数据 API 实现流式分析。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【面向评委 · 从容收尾】
以上就是我们小组的全部汇报，感谢各位老师的聆听，我们小组愿意回答老师们的提问。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《软件开发实践1》期末答辩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4672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41248" y="31272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Citi Bike Data Analysis &amp; Mining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31750">
            <a:solidFill>
              <a:srgbClr val="C884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团队成员：周晨琳　陈嘉欣　张子千　童悦家　陈静萤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杭州电子科技大学　|　2026 年 9 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5029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5029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74552" y="5029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86032" y="5029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59893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59893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74552" y="59893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686032" y="59893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618488" y="1892808"/>
            <a:ext cx="10003536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417320"/>
            <a:ext cx="10515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755648" y="13990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团队分工与项目背景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755648" y="1728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成员介绍、开发环境、需求分析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618488" y="2825496"/>
            <a:ext cx="10003536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2350008"/>
            <a:ext cx="10515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755648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数据说明与系统设计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755648" y="26609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数据来源、预处理流程、系统架构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618488" y="3758184"/>
            <a:ext cx="10003536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3282696"/>
            <a:ext cx="10515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755648" y="3264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统计分析与可视化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755648" y="3593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描述统计、时空规律、图表呈现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618488" y="4690872"/>
            <a:ext cx="10003536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6928" y="4215384"/>
            <a:ext cx="10515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1755648" y="41970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机器学习挖掘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755648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KMeans 站点聚类、五模型预测对比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618488" y="5623560"/>
            <a:ext cx="10003536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5148072"/>
            <a:ext cx="10515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1755648" y="51297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辅助与总结展望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755648" y="5458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协作过程、创新点、未来方向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 rot="5400000">
            <a:off x="8595360" y="23774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E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| ANALYSIS | MINING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595360" y="5760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TEAM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团队成员与分工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170432"/>
            <a:ext cx="11055096" cy="47548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1170432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开发模式：统一契约、并行开发 —— config.py 列名规范与接口契约统一制定，各模块只依赖统一标准表 clean_citibike.csv，实现零冲突对接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1828800"/>
            <a:ext cx="1105509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956816"/>
            <a:ext cx="77724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周晨琳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72768" y="2066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2968" y="19385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整体架构设计；列名规范与目录结构约定；数据获取脚本与全流程整合；报告与 PPT 制作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396728" y="2029968"/>
            <a:ext cx="960120" cy="3657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9" name="Text 16"/>
          <p:cNvSpPr/>
          <p:nvPr/>
        </p:nvSpPr>
        <p:spPr>
          <a:xfrm>
            <a:off x="10396728" y="2029968"/>
            <a:ext cx="960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2688336"/>
            <a:ext cx="1105509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2816352"/>
            <a:ext cx="77724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张子千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72768" y="2926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172968" y="279806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字段归一、枚举归一、时长补算、异常过滤、抽样与派生特征工程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0396728" y="2889504"/>
            <a:ext cx="960120" cy="3657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5" name="Text 22"/>
          <p:cNvSpPr/>
          <p:nvPr/>
        </p:nvSpPr>
        <p:spPr>
          <a:xfrm>
            <a:off x="10396728" y="2889504"/>
            <a:ext cx="960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6928" y="3547872"/>
            <a:ext cx="1105509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3675888"/>
            <a:ext cx="77724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陈嘉欣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72768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172968" y="36576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描述统计、热门站点分析、时段规律挖掘、输出统计汇总表与业务建议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0396728" y="3749040"/>
            <a:ext cx="960120" cy="3657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31" name="Text 28"/>
          <p:cNvSpPr/>
          <p:nvPr/>
        </p:nvSpPr>
        <p:spPr>
          <a:xfrm>
            <a:off x="10396728" y="3749040"/>
            <a:ext cx="960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66928" y="4407408"/>
            <a:ext cx="1105509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4535424"/>
            <a:ext cx="77724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童悦家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572768" y="46451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172968" y="45171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KMeans 站点聚类（K=4，四指标）、骑行时长与站点客流五模型对比预测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10396728" y="4608576"/>
            <a:ext cx="960120" cy="3657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37" name="Text 34"/>
          <p:cNvSpPr/>
          <p:nvPr/>
        </p:nvSpPr>
        <p:spPr>
          <a:xfrm>
            <a:off x="10396728" y="4608576"/>
            <a:ext cx="960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66928" y="5266944"/>
            <a:ext cx="1105509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1520" y="5394960"/>
            <a:ext cx="77724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陈静萤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572768" y="5504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172968" y="53766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统计分析图表：时段/星期分布、用户与车型占比、TOP10 站点、空间分布地图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0396728" y="5468112"/>
            <a:ext cx="960120" cy="3657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43" name="Text 40"/>
          <p:cNvSpPr/>
          <p:nvPr/>
        </p:nvSpPr>
        <p:spPr>
          <a:xfrm>
            <a:off x="10396728" y="5468112"/>
            <a:ext cx="960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45" name="Shape 42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46" name="Text 43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五名成员模块基于同一列名规范与接口契约实现零冲突整合，全部工作量为均分协作（每人 20%）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BACKGROUND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项目背景与需求分析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1609344"/>
            <a:ext cx="256032" cy="25603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1609344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78408" y="15727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Citi Bike 是纽约市最大的公共自行车系统，日均骑行超 10 万次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" y="2139696"/>
            <a:ext cx="256032" cy="25603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2139696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78408" y="2103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海量骑行数据蕴含城市出行规律与用户行为特征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" y="2670048"/>
            <a:ext cx="256032" cy="25603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2670048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78408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通过数据分析可优化车辆调度、提升运营效率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" y="3200400"/>
            <a:ext cx="256032" cy="25603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3200400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78408" y="31638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课程要求：数据清洗 + 统计分析 + 可视化 + 数据挖掘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928" y="3886200"/>
            <a:ext cx="5349240" cy="3657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6" name="Text 23"/>
          <p:cNvSpPr/>
          <p:nvPr/>
        </p:nvSpPr>
        <p:spPr>
          <a:xfrm>
            <a:off x="658368" y="38862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数据层：官方原始 CSV → 清洗后标准表 clean_citibike.csv（16 列）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66928" y="4315968"/>
            <a:ext cx="5349240" cy="3657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" y="4315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输出层：统计报表 + 统计图表 + 聚类/预测模型结果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382512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系统功能模块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382512" y="157276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82512" y="1572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数据获取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851392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372600" y="1572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download_data.py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382512" y="207568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82512" y="20756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8851392" y="2093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37260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preprocess.py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382512" y="257860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82512" y="2578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8851392" y="25968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372600" y="25786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382512" y="308152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82512" y="3081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851392" y="3099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372600" y="3081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plots.py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382512" y="3584448"/>
            <a:ext cx="23774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82512" y="3584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851392" y="3602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9372600" y="3584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ml.py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6382512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382512" y="4663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3.10 · pandas · numpy · scikit-learn · matplotlib · folium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382512" y="49743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PyCharm / VS Code · TRAE Coding Agent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4" name="Shape 51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5" name="Text 52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围绕「数据获取 → 清洗 → 统计 → 可视化 → 挖掘」五层闭环设计系统功能模块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数据说明与预处理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1207008"/>
            <a:ext cx="45720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" y="2240280"/>
            <a:ext cx="2334006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499 万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704088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原始行程记录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6422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76422" y="1207008"/>
            <a:ext cx="45720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Shape 16"/>
          <p:cNvSpPr/>
          <p:nvPr/>
        </p:nvSpPr>
        <p:spPr>
          <a:xfrm>
            <a:off x="3522726" y="2240280"/>
            <a:ext cx="2334006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7"/>
          <p:cNvSpPr/>
          <p:nvPr/>
        </p:nvSpPr>
        <p:spPr>
          <a:xfrm>
            <a:off x="3513582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497.5 万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3513582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有效记录（清洗后）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85916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85916" y="1207008"/>
            <a:ext cx="45720" cy="1188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4" name="Shape 21"/>
          <p:cNvSpPr/>
          <p:nvPr/>
        </p:nvSpPr>
        <p:spPr>
          <a:xfrm>
            <a:off x="6332220" y="2240280"/>
            <a:ext cx="2334006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5" name="Text 22"/>
          <p:cNvSpPr/>
          <p:nvPr/>
        </p:nvSpPr>
        <p:spPr>
          <a:xfrm>
            <a:off x="6323076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779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0.36%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6323076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异常剔除率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95410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995410" y="1207008"/>
            <a:ext cx="45720" cy="1188720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9" name="Shape 26"/>
          <p:cNvSpPr/>
          <p:nvPr/>
        </p:nvSpPr>
        <p:spPr>
          <a:xfrm>
            <a:off x="9141714" y="2240280"/>
            <a:ext cx="2334006" cy="45720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30" name="Text 27"/>
          <p:cNvSpPr/>
          <p:nvPr/>
        </p:nvSpPr>
        <p:spPr>
          <a:xfrm>
            <a:off x="9132570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</a:t>
            </a:r>
            <a:endParaRPr lang="en-US" sz="2500" dirty="0"/>
          </a:p>
        </p:txBody>
      </p:sp>
      <p:sp>
        <p:nvSpPr>
          <p:cNvPr id="31" name="Text 28"/>
          <p:cNvSpPr/>
          <p:nvPr/>
        </p:nvSpPr>
        <p:spPr>
          <a:xfrm>
            <a:off x="9132570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分析抽样样本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66928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566928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50976" y="2944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 Citi Bike 官方公开数据（2026 年 7 月）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6928" y="33284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50976" y="33284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大月份数据：5 个 CSV 分片（2026-07 压缩包约 929MB）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66928" y="37124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50976" y="3712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时间跨度：2026-06-30 ~ 2026-07-31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66928" y="4096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50976" y="4096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13 个字段，清洗后扩展为 16 列标准表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66928" y="4617720"/>
            <a:ext cx="5349240" cy="141732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42" name="Text 39"/>
          <p:cNvSpPr/>
          <p:nvPr/>
        </p:nvSpPr>
        <p:spPr>
          <a:xfrm>
            <a:off x="704088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04088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929MB 大文件采用 chunksize=500,000 分块读取，内存占用稳定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本机 zip 优先 + 三候选 URL 兜底的数据获取策略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自动合并官方大月份多分片，避免重复下载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382512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预处理流水线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6382512" y="2944368"/>
            <a:ext cx="310896" cy="3108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6" name="Text 43"/>
          <p:cNvSpPr/>
          <p:nvPr/>
        </p:nvSpPr>
        <p:spPr>
          <a:xfrm>
            <a:off x="6382512" y="294436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839712" y="29443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字段归一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8183880" y="29443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新旧表头映射 → 16 标准列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6382512" y="3429000"/>
            <a:ext cx="310896" cy="3108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0" name="Text 47"/>
          <p:cNvSpPr/>
          <p:nvPr/>
        </p:nvSpPr>
        <p:spPr>
          <a:xfrm>
            <a:off x="6382512" y="3429000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6839712" y="3429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时间解析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8183880" y="34290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started_at → datetime64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382512" y="3913632"/>
            <a:ext cx="310896" cy="3108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4" name="Text 51"/>
          <p:cNvSpPr/>
          <p:nvPr/>
        </p:nvSpPr>
        <p:spPr>
          <a:xfrm>
            <a:off x="6382512" y="3913632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6839712" y="39136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时长补算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8183880" y="39136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 - start → ride_duration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6382512" y="4398264"/>
            <a:ext cx="310896" cy="31089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58" name="Text 55"/>
          <p:cNvSpPr/>
          <p:nvPr/>
        </p:nvSpPr>
        <p:spPr>
          <a:xfrm>
            <a:off x="6382512" y="4398264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839712" y="43982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异常过滤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8183880" y="43982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 ≤ 时长 ≤ 24h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6382512" y="4882896"/>
            <a:ext cx="310896" cy="3108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2" name="Text 59"/>
          <p:cNvSpPr/>
          <p:nvPr/>
        </p:nvSpPr>
        <p:spPr>
          <a:xfrm>
            <a:off x="6382512" y="4882896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6839712" y="48828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随机抽样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8183880" y="48828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万条，seed=42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6382512" y="5367528"/>
            <a:ext cx="310896" cy="3108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6" name="Text 63"/>
          <p:cNvSpPr/>
          <p:nvPr/>
        </p:nvSpPr>
        <p:spPr>
          <a:xfrm>
            <a:off x="6382512" y="5367528"/>
            <a:ext cx="31089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6839712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特征派生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8183880" y="53675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hour / weekday / is_weekend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70" name="Shape 67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71" name="Text 68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清洗口径与官方一致（剔除 &lt;60s 行程），异常剔除率仅 0.36%，数据质量可靠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系统架构与设计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371600"/>
            <a:ext cx="3017520" cy="822960"/>
          </a:xfrm>
          <a:prstGeom prst="rect">
            <a:avLst/>
          </a:prstGeom>
          <a:solidFill>
            <a:srgbClr val="E8EEF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14447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58368" y="1755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Citi Bike 官方公开数据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（S3 月度 zip 分片）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70332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60520" y="137160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60520" y="1444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数据获取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25196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download_data.py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本机zip优先 + URL兜底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656832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114032" y="1371600"/>
            <a:ext cx="2377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14032" y="1444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205472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preprocess.py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分块清洗 + 特征派生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610344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067544" y="1371600"/>
            <a:ext cx="155448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67544" y="1444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标准表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10158984" y="17556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16列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" y="23957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统一标准表 clean_citibike.csv（16 列，接口契约）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" y="288036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2953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8368" y="32644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描述统计 · 时空规律 · 统计表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361688" y="288036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61688" y="2953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453128" y="32644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plots.py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统计图表 · 空间分布地图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156448" y="288036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56448" y="2953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8247888" y="32644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KMeans 聚类 · 双任务预测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258568" y="2194560"/>
            <a:ext cx="0" cy="685800"/>
          </a:xfrm>
          <a:prstGeom prst="line">
            <a:avLst/>
          </a:prstGeom>
          <a:noFill/>
          <a:ln w="15875">
            <a:solidFill>
              <a:srgbClr val="D9DEE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53328" y="2194560"/>
            <a:ext cx="0" cy="685800"/>
          </a:xfrm>
          <a:prstGeom prst="line">
            <a:avLst/>
          </a:prstGeom>
          <a:noFill/>
          <a:ln w="15875">
            <a:solidFill>
              <a:srgbClr val="D9DEE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848088" y="2194560"/>
            <a:ext cx="0" cy="685800"/>
          </a:xfrm>
          <a:prstGeom prst="line">
            <a:avLst/>
          </a:prstGeom>
          <a:noFill/>
          <a:ln w="15875">
            <a:solidFill>
              <a:srgbClr val="D9DEE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6928" y="219456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66928" y="4343400"/>
            <a:ext cx="11055096" cy="1051560"/>
          </a:xfrm>
          <a:prstGeom prst="rect">
            <a:avLst/>
          </a:prstGeom>
          <a:solidFill>
            <a:srgbClr val="E8EEF5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6928" y="4416552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658368" y="4727448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统计报表（output/统计结果.txt）· 统计图表（output/figures/）· 聚类与预测模型结果（机器学习模块/output/）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66928" y="56235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一键运行  python main.py    各模块也可独立执行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描述性统计分析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1207008"/>
            <a:ext cx="45720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" y="2240280"/>
            <a:ext cx="2334006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2"/>
          <p:cNvSpPr/>
          <p:nvPr/>
        </p:nvSpPr>
        <p:spPr>
          <a:xfrm>
            <a:off x="704088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 min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704088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平均骑行时长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76422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76422" y="1207008"/>
            <a:ext cx="45720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Shape 16"/>
          <p:cNvSpPr/>
          <p:nvPr/>
        </p:nvSpPr>
        <p:spPr>
          <a:xfrm>
            <a:off x="3522726" y="2240280"/>
            <a:ext cx="2334006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7"/>
          <p:cNvSpPr/>
          <p:nvPr/>
        </p:nvSpPr>
        <p:spPr>
          <a:xfrm>
            <a:off x="3513582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 min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3513582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骑行时长中位数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85916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85916" y="1207008"/>
            <a:ext cx="45720" cy="1188720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4" name="Shape 21"/>
          <p:cNvSpPr/>
          <p:nvPr/>
        </p:nvSpPr>
        <p:spPr>
          <a:xfrm>
            <a:off x="6332220" y="2240280"/>
            <a:ext cx="2334006" cy="45720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5" name="Text 22"/>
          <p:cNvSpPr/>
          <p:nvPr/>
        </p:nvSpPr>
        <p:spPr>
          <a:xfrm>
            <a:off x="6323076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79.5%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6323076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会员用户占比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95410" y="1207008"/>
            <a:ext cx="262661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995410" y="1207008"/>
            <a:ext cx="45720" cy="1188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9" name="Shape 26"/>
          <p:cNvSpPr/>
          <p:nvPr/>
        </p:nvSpPr>
        <p:spPr>
          <a:xfrm>
            <a:off x="9141714" y="2240280"/>
            <a:ext cx="2334006" cy="457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0" name="Text 27"/>
          <p:cNvSpPr/>
          <p:nvPr/>
        </p:nvSpPr>
        <p:spPr>
          <a:xfrm>
            <a:off x="9132570" y="1335024"/>
            <a:ext cx="2352294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73.4%</a:t>
            </a:r>
            <a:endParaRPr lang="en-US" sz="2500" dirty="0"/>
          </a:p>
        </p:txBody>
      </p:sp>
      <p:sp>
        <p:nvSpPr>
          <p:cNvPr id="31" name="Text 28"/>
          <p:cNvSpPr/>
          <p:nvPr/>
        </p:nvSpPr>
        <p:spPr>
          <a:xfrm>
            <a:off x="9132570" y="1956816"/>
            <a:ext cx="23522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电动自行车占比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66928" y="26517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用户类型分布</a:t>
            </a:r>
            <a:endParaRPr lang="en-US" sz="12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1481328" y="3017520"/>
          <a:ext cx="3520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0"/>
          <p:cNvSpPr/>
          <p:nvPr/>
        </p:nvSpPr>
        <p:spPr>
          <a:xfrm>
            <a:off x="6382512" y="26517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车型分布</a:t>
            </a:r>
            <a:endParaRPr lang="en-US" sz="1200" dirty="0"/>
          </a:p>
        </p:txBody>
      </p:sp>
      <p:graphicFrame>
        <p:nvGraphicFramePr>
          <p:cNvPr id="35" name="Chart 1" descr=""/>
          <p:cNvGraphicFramePr/>
          <p:nvPr/>
        </p:nvGraphicFramePr>
        <p:xfrm>
          <a:off x="7296912" y="3017520"/>
          <a:ext cx="3520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Shape 31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37" name="Shape 32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38" name="Text 33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核心发现：Citi Bike 以短途「最后一公里」出行为主，已形成稳定的通勤用户基本盘，电动化趋势明显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PATTERNS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时空规律挖掘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11704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时段分布（早晚双峰）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82512" y="11704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星期分布（周三最高）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" y="1412748"/>
            <a:ext cx="5422392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5" name="Image 0" descr="E:\citi-bike\output\figures\hour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5394960" cy="22219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68796" y="1412748"/>
            <a:ext cx="542239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7" name="Image 1" descr="E:\citi-bike\output\figures\weekday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426464"/>
            <a:ext cx="5394960" cy="267004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15968"/>
          <a:ext cx="5852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383280"/>
                <a:gridCol w="1005840"/>
                <a:gridCol w="731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热门借车站点 TOP5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骑行次数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占比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Pier 61 at Chelsea Piers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0.38%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Cooper Square &amp; Astor Pl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 21 St &amp; 6 Ave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0.32%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Central Park S &amp; 6 Ave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0.29%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Ave &amp; W 33 St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0.29%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675120" y="44348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早高峰 8 时与晚高峰 17–19 时双峰明显，峰值 18 时（17,403 次）；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工作日骑行量为周末的 3.1 倍；热门站点集中于曼哈顿中城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1" name="Shape 15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2" name="Text 16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通勤特征显著：早晚高峰潮汐 + 工作日主导 + 核心区集中，为调度优化提供直接依据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VISUALIZATION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可视化成果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11704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TOP10 热门站点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11704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用户类型占比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3886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站点空间分布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3212" y="1412748"/>
            <a:ext cx="551383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6" name="Image 0" descr="E:\citi-bike\output\figures\hot_stati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5486400" cy="216712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935724" y="1431036"/>
            <a:ext cx="2221992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8" name="Image 1" descr="E:\citi-bike\output\figures\weekend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44752"/>
            <a:ext cx="2194560" cy="22585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35724" y="4146804"/>
            <a:ext cx="2770632" cy="2221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20" name="Image 2" descr="E:\citi-bike\output\figures\station_sca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160520"/>
            <a:ext cx="2743200" cy="21945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0012680" y="4114800"/>
            <a:ext cx="1600200" cy="22860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2" name="Text 16"/>
          <p:cNvSpPr/>
          <p:nvPr/>
        </p:nvSpPr>
        <p:spPr>
          <a:xfrm>
            <a:off x="10012680" y="4160520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🗺️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folium 交互地图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（HTML）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支持缩放与站点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信息查看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66928" y="393192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04088" y="4041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统计图表类型与输出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04088" y="434340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时段分布 / 星期分布柱状图（matplotlib）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用户与车型占比饼图（matplotlib）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TOP10 站点柱状图（matplotlib）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站点空间分布散点图（matplotlib）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交互式地图（folium，HTML）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66928" y="36118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图：各小时骑行量分布（双峰）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8" name="Shape 22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9" name="Text 23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全部统计图保存至 output/figures/，中文统一 SimHei 字体；folium 地图支持交互式缩放与站点信息查看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CLUSTERING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KMeans 站点聚类分析（1/2）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133856"/>
            <a:ext cx="11055096" cy="4572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113385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 1985 个有效站点　|　特征 10 维（流量/时长/会员/高峰/周末/平衡度/经纬度）　|　Z-score 标准化　|　K=4（SSE 13,754.9 · 轮廓 0.1630 · CH 292.61 · DB 1.8809）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" y="17373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聚类空间分布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3212" y="1979676"/>
            <a:ext cx="5513832" cy="4123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6" name="Image 0" descr="E:\citi-bike\output\figures\ml_fig2_kmeans_spatia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93392"/>
            <a:ext cx="5486400" cy="40965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82512" y="17373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四类站点特征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993392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914400"/>
                <a:gridCol w="822960"/>
                <a:gridCol w="8229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站点数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日均流量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平均时长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会员占比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高流量·通勤型｜会员主导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374.6 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12.9 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81.1%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中流量·通勤型｜会员主导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151.5 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12.6 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80.7%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低流量·通勤型｜会员主导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68.1 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12.3 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79.3%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低流量·休闲型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109.3 次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17.8 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65.3%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6382512" y="5138928"/>
            <a:ext cx="5394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19672" y="5212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业务价值：聚类结果揭示不同类型站点的用户行为差异，可为差异化运营（休闲站周末营销、通勤站高峰调度）提供数据支撑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2" name="Shape 17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3" name="Text 18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四类画像 = 通勤枢纽 + 中量通勤 + 社区微循环 + 休闲景区，站点差异化运营有了量化依据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CLUSTERING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聚类数确定与站点画像（2/2）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11704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肘部法则与多指标验证（K=2~10）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20840" y="1170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四类站点画像雷达图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" y="1412748"/>
            <a:ext cx="5148072" cy="3593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5" name="Image 0" descr="E:\citi-bike\output\figures\ml_fig1_kmeans_elbow_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5120640" cy="35661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707124" y="1412748"/>
            <a:ext cx="4233672" cy="3593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7" name="Image 1" descr="E:\citi-bike\output\figures\ml_fig3_kmeans_radar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26464"/>
            <a:ext cx="4206240" cy="35661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018520" y="2103120"/>
            <a:ext cx="1005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下降趋缓拐点 + 轮廓系数/CH/DB 交叉验证，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综合确定 K=4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53212" y="5033772"/>
            <a:ext cx="3044952" cy="18196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20" name="Image 2" descr="E:\citi-bike\output\figures\ml_fig4_kmeans_cluster_cou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47488"/>
            <a:ext cx="3017520" cy="179222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886200" y="5074920"/>
            <a:ext cx="7726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041648" y="51937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四类站点数量：高流量通勤 694 站 · 中流量通勤 443 站 · 低流量休闲 277 站 · 低流量通勤 571 站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041648" y="55778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休闲型站点平均时长最长（17.8 分）且周末占比最高（33.6%），通勤型站点会员占比普遍超 79%，两类站点运营策略应显著区分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PREDICTION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预测模型性能对比（1/2）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113385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骑行时长预测（特征 17 维 · 含骑行距离 distance_km，单位：分钟）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82512" y="113385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站点客流预测（特征 13 维 · 含滞后客流 lag_1h/lag_24h，单位：次/小时）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3291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线性回归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0.1867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5.097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岭回归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0.1867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5.097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0.1572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5.033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 ★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0.2031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4.802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0.1945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4.748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基线-均值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8.309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17320"/>
          <a:ext cx="3291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线性回归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0.8722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50.54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岭回归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0.8723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50.46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决策树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0.8797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43.31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0.9441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30.67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 ★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0.9465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29.37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基线-均值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3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155.11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397764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2 组朴素基线（均值/中位数）对比，量化模型真实增益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9793224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2 组朴素基线（均值/中位数）对比，量化模型真实增益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66928" y="37947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五模型对比（R² / MAE / RMSE）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82512" y="379476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五模型对比（R² / MAE / RMSE）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53212" y="4055364"/>
            <a:ext cx="5422392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21" name="Image 0" descr="E:\citi-bike\output\figures\ml_fig7_duration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69080"/>
            <a:ext cx="5394960" cy="177393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368796" y="4055364"/>
            <a:ext cx="5422392" cy="1801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23" name="Image 1" descr="E:\citi-bike\output\figures\ml_fig10_demand_model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4069080"/>
            <a:ext cx="5394960" cy="177393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5" name="Shape 18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6" name="Text 19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客流预测梯度提升最优（R²=0.9465 · MAE=29.37），时长预测随机森林最优（R²=0.2031 · MAE=4.80 分钟）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PREDICTION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预测效果与特征重要性（2/2）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117043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时长预测：真实值 vs 预测值 + 残差分布（随机森林）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11704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客流预测：测试集真实/预测时序（梯度提升）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" y="1412748"/>
            <a:ext cx="5696712" cy="2130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5" name="Image 0" descr="E:\citi-bike\output\figures\ml_fig6_duration_prediction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5669280" cy="21031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87084" y="1412748"/>
            <a:ext cx="4892040" cy="21305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17" name="Image 1" descr="E:\citi-bike\output\figures\ml_fig9_demand_prediction_timese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26464"/>
            <a:ext cx="4864608" cy="21031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" y="3703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时长预测特征重要性（随机森林）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315968" y="3703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客流预测特征重要性（梯度提升）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53212" y="3945636"/>
            <a:ext cx="3593592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21" name="Image 2" descr="E:\citi-bike\output\figures\ml_fig5_duration_feature_import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59352"/>
            <a:ext cx="3566160" cy="235915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302252" y="3945636"/>
            <a:ext cx="35935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63500" dist="20320" dir="5400000">
              <a:srgbClr val="D8DEE5">
                <a:alpha val="28000"/>
              </a:srgbClr>
            </a:outerShdw>
          </a:effectLst>
        </p:spPr>
      </p:sp>
      <p:pic>
        <p:nvPicPr>
          <p:cNvPr id="23" name="Image 3" descr="E:\citi-bike\output\figures\ml_fig8_demand_feature_import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3959352"/>
            <a:ext cx="3566160" cy="20756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2440" y="3959352"/>
            <a:ext cx="3520440" cy="2359152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5" name="Text 18"/>
          <p:cNvSpPr/>
          <p:nvPr/>
        </p:nvSpPr>
        <p:spPr>
          <a:xfrm>
            <a:off x="8092440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229600" y="4407408"/>
            <a:ext cx="3246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客流预测：lag_1h 滞后客流主导（79.5%），可辅助车辆调度决策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时长预测：骑行距离 distance_km 第一特征（61.8%），距离越远耗时越长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相对均值基线：客流 MAE 降 81.1% · 时长 MAE 降 42.2%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28" name="Shape 21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29" name="Text 22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双任务均通过误差归因验证：客流误差集中于高流量时段，时长误差集中于 &gt;60 分钟长时骑行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AI ASSIST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辅助开发过程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188720"/>
            <a:ext cx="11055096" cy="4572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" y="118872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使用工具：字节 TRAE Coding Agent —— 接口规范初稿起草、模块代码生成与调试排错；架构设计、规范制定与结果校验由小组成员人工完成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66928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生成的初始内容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2212848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2212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61288" y="22128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config.py 列名规范与 data_dict.md 接口文档初稿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6928" y="2688336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26883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61288" y="268833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四个功能模块的初始代码框架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" y="3163824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31638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61288" y="316382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期末报告初稿结构与内容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66928" y="3639312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3639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61288" y="36393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基础可视化图表代码模板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382512" y="1828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关键迭代修改（人工主导）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382512" y="2212848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73952" y="2267712"/>
            <a:ext cx="274320" cy="2743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0" name="Text 27"/>
          <p:cNvSpPr/>
          <p:nvPr/>
        </p:nvSpPr>
        <p:spPr>
          <a:xfrm>
            <a:off x="6473952" y="2267712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39712" y="22128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内存优化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72400" y="221284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 read_csv → chunksize=50 万分块读取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382512" y="2688336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73952" y="2743200"/>
            <a:ext cx="274320" cy="2743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5" name="Text 32"/>
          <p:cNvSpPr/>
          <p:nvPr/>
        </p:nvSpPr>
        <p:spPr>
          <a:xfrm>
            <a:off x="6473952" y="27432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839712" y="2688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编码兼容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0" y="268833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控制台 GBK 乱码 → utf-8 输出包装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382512" y="3163824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473952" y="3218688"/>
            <a:ext cx="274320" cy="2743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0" name="Text 37"/>
          <p:cNvSpPr/>
          <p:nvPr/>
        </p:nvSpPr>
        <p:spPr>
          <a:xfrm>
            <a:off x="6473952" y="3218688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839712" y="31638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接口统一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772400" y="316382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可视化与 main.py 参数类型不一致 → 统一 value_counts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382512" y="3639312"/>
            <a:ext cx="5394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73952" y="3694176"/>
            <a:ext cx="274320" cy="2743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45" name="Text 42"/>
          <p:cNvSpPr/>
          <p:nvPr/>
        </p:nvSpPr>
        <p:spPr>
          <a:xfrm>
            <a:off x="6473952" y="3694176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839712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路径规范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772400" y="363931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各模块写死路径 → 统一收敛到 config 常量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49" name="Shape 46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0" name="Text 47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生成模块初始框架，全部经人工运行验证与修改；接口契约、路径规范、异常兜底等关键环节均由人工主导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INNOVATION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66928" y="1280160"/>
            <a:ext cx="545896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" y="1280160"/>
            <a:ext cx="5458968" cy="64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463040"/>
            <a:ext cx="777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31520" y="21488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智能数据获取策略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31520" y="2514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zip 优先 + 三候选 URL 兜底，自动检测并合并官方大月份多分片，避免重复下载 900MB+ 数据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31636" y="1280160"/>
            <a:ext cx="545896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31636" y="1280160"/>
            <a:ext cx="5458968" cy="64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9" name="Text 16"/>
          <p:cNvSpPr/>
          <p:nvPr/>
        </p:nvSpPr>
        <p:spPr>
          <a:xfrm>
            <a:off x="6396228" y="1463040"/>
            <a:ext cx="777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396228" y="21488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内存友好清洗流水线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96228" y="2514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929MB 大文件采用 50 万行分块读取 + 流式清洗，内存占用稳定，普通笔记本即可运行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3675888"/>
            <a:ext cx="545896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66928" y="3675888"/>
            <a:ext cx="5458968" cy="64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858768"/>
            <a:ext cx="777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31520" y="45445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统一契约并行开发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1520" y="49103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五名成员基于同一列名规范与接口契约并行开发，实现零冲突整合，体现软件工程最佳实践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31636" y="3675888"/>
            <a:ext cx="545896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  <a:effectLst>
            <a:outerShdw sx="100000" sy="100000" kx="0" ky="0" algn="bl" rotWithShape="0" blurRad="50800" dist="19050" dir="5400000">
              <a:srgbClr val="D8DEE5">
                <a:alpha val="3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31636" y="3675888"/>
            <a:ext cx="5458968" cy="6400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9" name="Text 26"/>
          <p:cNvSpPr/>
          <p:nvPr/>
        </p:nvSpPr>
        <p:spPr>
          <a:xfrm>
            <a:off x="6396228" y="3858768"/>
            <a:ext cx="777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396228" y="45445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 + 多模型对比预测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396228" y="49103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客流预测（梯度提升 R²=0.9465 · MAE=29.37）与时长预测（随机森林 R²=0.2031 · MAE=4.80）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315468"/>
            <a:ext cx="128016" cy="128016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" y="274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SUMMARY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6928" y="475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955548"/>
            <a:ext cx="502920" cy="32004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8" name="Shape 5"/>
          <p:cNvSpPr/>
          <p:nvPr/>
        </p:nvSpPr>
        <p:spPr>
          <a:xfrm>
            <a:off x="566928" y="10058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6492240"/>
            <a:ext cx="11055096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6547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547104"/>
            <a:ext cx="7772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3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66928" y="1207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1618488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1618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32688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打通「数据获取 → 清洗 → 统计 → 可视化 → 挖掘」完整闭环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" y="2093976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2093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32688" y="20482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499 万行真实数据上验证了统一架构约定的有效性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" y="2569464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32688" y="252374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五名成员模块基于同一规范实现零冲突整合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3044952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3044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32688" y="29992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产出统计分析图表 + 站点聚类 + 客流/时长多模型对比预测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66928" y="3520440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3520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32688" y="34747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客流预测（梯度提升 R²=0.9465 · MAE=29.37 次/小时）可辅助车辆投放调度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66928" y="3995928"/>
            <a:ext cx="219456" cy="21945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" y="3995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32688" y="39502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时长预测（随机森林 R²=0.2031 · MAE=4.80 分钟）以骑行距离为核心特征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82512" y="1207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未来改进方向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382512" y="1572768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157276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967728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特征工程增强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967728" y="1901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引入天气、节假日、实时路况特征，继续提升时长预测 R²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382512" y="2322576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3952" y="232257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🕸️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967728" y="2377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时空图模型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967728" y="2651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聚类扩展为 ST-GCN 等时空图模型，刻画站点间依赖关系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382512" y="3072384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73952" y="307238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967728" y="3127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交互调度大屏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6967728" y="34015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folium 交互大屏与调度仿真回放，形成决策闭环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382512" y="3822192"/>
            <a:ext cx="5394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73952" y="38221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967728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3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实时数据流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967728" y="41513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接入实时骑行数据 API，实现流式分析与动态预测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66928" y="6144768"/>
            <a:ext cx="11055096" cy="292608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49" name="Shape 46"/>
          <p:cNvSpPr/>
          <p:nvPr/>
        </p:nvSpPr>
        <p:spPr>
          <a:xfrm>
            <a:off x="566928" y="6144768"/>
            <a:ext cx="64008" cy="292608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50" name="Text 47"/>
          <p:cNvSpPr/>
          <p:nvPr/>
        </p:nvSpPr>
        <p:spPr>
          <a:xfrm>
            <a:off x="713232" y="6144768"/>
            <a:ext cx="10799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本项目在真实海量数据上验证了「统一契约 + 并行开发 + 数据挖掘」的完整工程实践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842C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41248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3840480"/>
            <a:ext cx="2011680" cy="0"/>
          </a:xfrm>
          <a:prstGeom prst="line">
            <a:avLst/>
          </a:prstGeom>
          <a:noFill/>
          <a:ln w="31750">
            <a:solidFill>
              <a:srgbClr val="C884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343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84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1248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纽约公共自行车数据分析 · Citi Bike Data Analysis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杭州电子科技大学 · 《软件开发实践1》期末答辩 · 2026 年 9 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5029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5029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74552" y="5029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86032" y="5029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59893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59893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274552" y="5989320"/>
            <a:ext cx="411480" cy="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686032" y="5989320"/>
            <a:ext cx="0" cy="411480"/>
          </a:xfrm>
          <a:prstGeom prst="line">
            <a:avLst/>
          </a:prstGeom>
          <a:noFill/>
          <a:ln w="15875">
            <a:solidFill>
              <a:srgbClr val="7C9AB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纽约公共自行车数据分析</dc:title>
  <dc:subject>PptxGenJS Presentation</dc:subject>
  <dc:creator>周晨琳 陈嘉欣 张子千 童悦家 陈静萤</dc:creator>
  <cp:lastModifiedBy>周晨琳 陈嘉欣 张子千 童悦家 陈静萤</cp:lastModifiedBy>
  <cp:revision>1</cp:revision>
  <dcterms:created xsi:type="dcterms:W3CDTF">2026-09-05T17:26:18Z</dcterms:created>
  <dcterms:modified xsi:type="dcterms:W3CDTF">2026-09-05T17:26:18Z</dcterms:modified>
</cp:coreProperties>
</file>